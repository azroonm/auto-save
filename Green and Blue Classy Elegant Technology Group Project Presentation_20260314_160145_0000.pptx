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Boston Angel" charset="1" panose="00000000000000000000"/>
      <p:regular r:id="rId18"/>
    </p:embeddedFont>
    <p:embeddedFont>
      <p:font typeface="Agrandir" charset="1" panose="00000500000000000000"/>
      <p:regular r:id="rId19"/>
    </p:embeddedFont>
    <p:embeddedFont>
      <p:font typeface="Agrandir Bold" charset="1" panose="000008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../media/image18.jpe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jpeg" Type="http://schemas.openxmlformats.org/officeDocument/2006/relationships/image"/><Relationship Id="rId7" Target="../media/image24.jpeg" Type="http://schemas.openxmlformats.org/officeDocument/2006/relationships/image"/><Relationship Id="rId8" Target="../media/image2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28.jpeg" Type="http://schemas.openxmlformats.org/officeDocument/2006/relationships/image"/><Relationship Id="rId5" Target="../media/image29.png" Type="http://schemas.openxmlformats.org/officeDocument/2006/relationships/image"/><Relationship Id="rId6" Target="../media/image3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33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39.jpeg" Type="http://schemas.openxmlformats.org/officeDocument/2006/relationships/image"/><Relationship Id="rId5" Target="../media/image40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jpeg" Type="http://schemas.openxmlformats.org/officeDocument/2006/relationships/image"/><Relationship Id="rId3" Target="../media/image42.png" Type="http://schemas.openxmlformats.org/officeDocument/2006/relationships/image"/><Relationship Id="rId4" Target="../media/image4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ADA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15003" y="2825717"/>
            <a:ext cx="11257995" cy="4954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14"/>
              </a:lnSpc>
            </a:pPr>
            <a:r>
              <a:rPr lang="en-US" sz="19478">
                <a:solidFill>
                  <a:srgbClr val="21575B"/>
                </a:solidFill>
                <a:latin typeface="Boston Angel"/>
                <a:ea typeface="Boston Angel"/>
                <a:cs typeface="Boston Angel"/>
                <a:sym typeface="Boston Angel"/>
              </a:rPr>
              <a:t>AUTO SCALE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3798535" y="2271284"/>
            <a:ext cx="8978930" cy="10266968"/>
          </a:xfrm>
          <a:custGeom>
            <a:avLst/>
            <a:gdLst/>
            <a:ahLst/>
            <a:cxnLst/>
            <a:rect r="r" b="b" t="t" l="l"/>
            <a:pathLst>
              <a:path h="10266968" w="8978930">
                <a:moveTo>
                  <a:pt x="0" y="0"/>
                </a:moveTo>
                <a:lnTo>
                  <a:pt x="8978930" y="0"/>
                </a:lnTo>
                <a:lnTo>
                  <a:pt x="8978930" y="10266968"/>
                </a:lnTo>
                <a:lnTo>
                  <a:pt x="0" y="102669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979566" y="0"/>
            <a:ext cx="8298050" cy="3470094"/>
          </a:xfrm>
          <a:custGeom>
            <a:avLst/>
            <a:gdLst/>
            <a:ahLst/>
            <a:cxnLst/>
            <a:rect r="r" b="b" t="t" l="l"/>
            <a:pathLst>
              <a:path h="3470094" w="8298050">
                <a:moveTo>
                  <a:pt x="0" y="0"/>
                </a:moveTo>
                <a:lnTo>
                  <a:pt x="8298050" y="0"/>
                </a:lnTo>
                <a:lnTo>
                  <a:pt x="8298050" y="3470094"/>
                </a:lnTo>
                <a:lnTo>
                  <a:pt x="0" y="34700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435471" y="7944538"/>
            <a:ext cx="7315200" cy="159604"/>
          </a:xfrm>
          <a:custGeom>
            <a:avLst/>
            <a:gdLst/>
            <a:ahLst/>
            <a:cxnLst/>
            <a:rect r="r" b="b" t="t" l="l"/>
            <a:pathLst>
              <a:path h="159604" w="7315200">
                <a:moveTo>
                  <a:pt x="0" y="0"/>
                </a:moveTo>
                <a:lnTo>
                  <a:pt x="7315200" y="0"/>
                </a:lnTo>
                <a:lnTo>
                  <a:pt x="7315200" y="159605"/>
                </a:lnTo>
                <a:lnTo>
                  <a:pt x="0" y="159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-1029439" y="7198684"/>
            <a:ext cx="4117755" cy="2058877"/>
          </a:xfrm>
          <a:custGeom>
            <a:avLst/>
            <a:gdLst/>
            <a:ahLst/>
            <a:cxnLst/>
            <a:rect r="r" b="b" t="t" l="l"/>
            <a:pathLst>
              <a:path h="2058877" w="4117755">
                <a:moveTo>
                  <a:pt x="0" y="0"/>
                </a:moveTo>
                <a:lnTo>
                  <a:pt x="4117755" y="0"/>
                </a:lnTo>
                <a:lnTo>
                  <a:pt x="4117755" y="2058877"/>
                </a:lnTo>
                <a:lnTo>
                  <a:pt x="0" y="20588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032609" y="1268020"/>
            <a:ext cx="3267256" cy="3333935"/>
          </a:xfrm>
          <a:custGeom>
            <a:avLst/>
            <a:gdLst/>
            <a:ahLst/>
            <a:cxnLst/>
            <a:rect r="r" b="b" t="t" l="l"/>
            <a:pathLst>
              <a:path h="3333935" w="3267256">
                <a:moveTo>
                  <a:pt x="0" y="0"/>
                </a:moveTo>
                <a:lnTo>
                  <a:pt x="3267256" y="0"/>
                </a:lnTo>
                <a:lnTo>
                  <a:pt x="3267256" y="3333935"/>
                </a:lnTo>
                <a:lnTo>
                  <a:pt x="0" y="33339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ADA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719756" y="1616742"/>
            <a:ext cx="4539544" cy="7831247"/>
            <a:chOff x="0" y="0"/>
            <a:chExt cx="739069" cy="12749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9069" cy="1274980"/>
            </a:xfrm>
            <a:custGeom>
              <a:avLst/>
              <a:gdLst/>
              <a:ahLst/>
              <a:cxnLst/>
              <a:rect r="r" b="b" t="t" l="l"/>
              <a:pathLst>
                <a:path h="1274980" w="739069">
                  <a:moveTo>
                    <a:pt x="0" y="0"/>
                  </a:moveTo>
                  <a:lnTo>
                    <a:pt x="739069" y="0"/>
                  </a:lnTo>
                  <a:lnTo>
                    <a:pt x="739069" y="1274980"/>
                  </a:lnTo>
                  <a:lnTo>
                    <a:pt x="0" y="1274980"/>
                  </a:lnTo>
                  <a:close/>
                </a:path>
              </a:pathLst>
            </a:custGeom>
            <a:blipFill>
              <a:blip r:embed="rId2"/>
              <a:stretch>
                <a:fillRect l="0" t="-6729" r="0" b="-6729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352952"/>
            <a:ext cx="2525151" cy="3784287"/>
          </a:xfrm>
          <a:custGeom>
            <a:avLst/>
            <a:gdLst/>
            <a:ahLst/>
            <a:cxnLst/>
            <a:rect r="r" b="b" t="t" l="l"/>
            <a:pathLst>
              <a:path h="3784287" w="2525151">
                <a:moveTo>
                  <a:pt x="0" y="0"/>
                </a:moveTo>
                <a:lnTo>
                  <a:pt x="2525151" y="0"/>
                </a:lnTo>
                <a:lnTo>
                  <a:pt x="2525151" y="3784287"/>
                </a:lnTo>
                <a:lnTo>
                  <a:pt x="0" y="37842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144595" y="1731042"/>
            <a:ext cx="4791583" cy="1533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56"/>
              </a:lnSpc>
            </a:pPr>
            <a:r>
              <a:rPr lang="en-US" sz="10865">
                <a:solidFill>
                  <a:srgbClr val="21575B"/>
                </a:solidFill>
                <a:latin typeface="Boston Angel"/>
                <a:ea typeface="Boston Angel"/>
                <a:cs typeface="Boston Angel"/>
                <a:sym typeface="Boston Angel"/>
              </a:rPr>
              <a:t>Problem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975314"/>
            <a:ext cx="11504908" cy="5096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1"/>
              </a:lnSpc>
            </a:pPr>
            <a:r>
              <a:rPr lang="en-US" sz="3179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• Sudden fuse cut-out leads to unexpected power loss</a:t>
            </a:r>
          </a:p>
          <a:p>
            <a:pPr algn="l">
              <a:lnSpc>
                <a:spcPts val="4451"/>
              </a:lnSpc>
            </a:pPr>
          </a:p>
          <a:p>
            <a:pPr algn="l">
              <a:lnSpc>
                <a:spcPts val="4451"/>
              </a:lnSpc>
            </a:pPr>
            <a:r>
              <a:rPr lang="en-US" sz="3179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• Electronic devices may get damaged due to abrupt power interruption</a:t>
            </a:r>
          </a:p>
          <a:p>
            <a:pPr algn="l">
              <a:lnSpc>
                <a:spcPts val="4451"/>
              </a:lnSpc>
            </a:pPr>
          </a:p>
          <a:p>
            <a:pPr algn="l">
              <a:lnSpc>
                <a:spcPts val="4451"/>
              </a:lnSpc>
            </a:pPr>
            <a:r>
              <a:rPr lang="en-US" sz="3179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• Important tasks can be interrupted or data may be lost</a:t>
            </a:r>
          </a:p>
          <a:p>
            <a:pPr algn="l">
              <a:lnSpc>
                <a:spcPts val="4451"/>
              </a:lnSpc>
            </a:pPr>
          </a:p>
          <a:p>
            <a:pPr algn="l">
              <a:lnSpc>
                <a:spcPts val="4451"/>
              </a:lnSpc>
            </a:pPr>
            <a:r>
              <a:rPr lang="en-US" sz="3179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• Difficult to identify the exact cause of fuse failure quickly</a:t>
            </a:r>
          </a:p>
          <a:p>
            <a:pPr algn="l">
              <a:lnSpc>
                <a:spcPts val="445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ADA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3907" y="1074992"/>
            <a:ext cx="6924637" cy="1888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73"/>
              </a:lnSpc>
              <a:spcBef>
                <a:spcPct val="0"/>
              </a:spcBef>
            </a:pPr>
            <a:r>
              <a:rPr lang="en-US" sz="10481">
                <a:solidFill>
                  <a:srgbClr val="21575B"/>
                </a:solidFill>
                <a:latin typeface="Boston Angel"/>
                <a:ea typeface="Boston Angel"/>
                <a:cs typeface="Boston Angel"/>
                <a:sym typeface="Boston Angel"/>
              </a:rPr>
              <a:t>Solution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13907" y="3239227"/>
            <a:ext cx="9695513" cy="5478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1"/>
              </a:lnSpc>
            </a:pPr>
            <a:r>
              <a:rPr lang="en-US" sz="2586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• Our project is designed to detect electrical overload in a circuit.</a:t>
            </a:r>
          </a:p>
          <a:p>
            <a:pPr algn="l">
              <a:lnSpc>
                <a:spcPts val="3621"/>
              </a:lnSpc>
            </a:pPr>
            <a:r>
              <a:rPr lang="en-US" sz="2586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• The system continuously monitors the current flowing in the circuit.</a:t>
            </a:r>
          </a:p>
          <a:p>
            <a:pPr algn="l">
              <a:lnSpc>
                <a:spcPts val="3621"/>
              </a:lnSpc>
            </a:pPr>
            <a:r>
              <a:rPr lang="en-US" sz="2586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• When the current exceeds the safe limit, the system detects an overload condition.</a:t>
            </a:r>
          </a:p>
          <a:p>
            <a:pPr algn="l">
              <a:lnSpc>
                <a:spcPts val="3621"/>
              </a:lnSpc>
            </a:pPr>
            <a:r>
              <a:rPr lang="en-US" sz="2586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• Instead of cutting all power, the system disconnects non-essential loads.</a:t>
            </a:r>
          </a:p>
          <a:p>
            <a:pPr algn="l">
              <a:lnSpc>
                <a:spcPts val="3621"/>
              </a:lnSpc>
            </a:pPr>
            <a:r>
              <a:rPr lang="en-US" sz="2586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• This helps keep important devices running while reducing the load.</a:t>
            </a:r>
          </a:p>
          <a:p>
            <a:pPr algn="l">
              <a:lnSpc>
                <a:spcPts val="3621"/>
              </a:lnSpc>
              <a:spcBef>
                <a:spcPct val="0"/>
              </a:spcBef>
            </a:pPr>
            <a:r>
              <a:rPr lang="en-US" sz="2586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• The system protects electrical appliances and prevents fuse failure or damage.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00369" y="1768475"/>
            <a:ext cx="7785699" cy="7103345"/>
            <a:chOff x="0" y="0"/>
            <a:chExt cx="1206209" cy="11004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06209" cy="1100494"/>
            </a:xfrm>
            <a:custGeom>
              <a:avLst/>
              <a:gdLst/>
              <a:ahLst/>
              <a:cxnLst/>
              <a:rect r="r" b="b" t="t" l="l"/>
              <a:pathLst>
                <a:path h="1100494" w="1206209">
                  <a:moveTo>
                    <a:pt x="0" y="0"/>
                  </a:moveTo>
                  <a:lnTo>
                    <a:pt x="1206209" y="0"/>
                  </a:lnTo>
                  <a:lnTo>
                    <a:pt x="1206209" y="1100494"/>
                  </a:lnTo>
                  <a:lnTo>
                    <a:pt x="0" y="1100494"/>
                  </a:lnTo>
                  <a:close/>
                </a:path>
              </a:pathLst>
            </a:custGeom>
            <a:blipFill>
              <a:blip r:embed="rId2"/>
              <a:stretch>
                <a:fillRect l="-6129" t="0" r="-6129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5400000">
            <a:off x="7075306" y="435916"/>
            <a:ext cx="1594577" cy="3463279"/>
          </a:xfrm>
          <a:custGeom>
            <a:avLst/>
            <a:gdLst/>
            <a:ahLst/>
            <a:cxnLst/>
            <a:rect r="r" b="b" t="t" l="l"/>
            <a:pathLst>
              <a:path h="3463279" w="1594577">
                <a:moveTo>
                  <a:pt x="0" y="0"/>
                </a:moveTo>
                <a:lnTo>
                  <a:pt x="1594577" y="0"/>
                </a:lnTo>
                <a:lnTo>
                  <a:pt x="1594577" y="3463278"/>
                </a:lnTo>
                <a:lnTo>
                  <a:pt x="0" y="34632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ADA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5864" y="5276442"/>
            <a:ext cx="8115300" cy="3981858"/>
            <a:chOff x="0" y="0"/>
            <a:chExt cx="1257272" cy="6168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7272" cy="616894"/>
            </a:xfrm>
            <a:custGeom>
              <a:avLst/>
              <a:gdLst/>
              <a:ahLst/>
              <a:cxnLst/>
              <a:rect r="r" b="b" t="t" l="l"/>
              <a:pathLst>
                <a:path h="616894" w="1257272">
                  <a:moveTo>
                    <a:pt x="0" y="0"/>
                  </a:moveTo>
                  <a:lnTo>
                    <a:pt x="1257272" y="0"/>
                  </a:lnTo>
                  <a:lnTo>
                    <a:pt x="1257272" y="616894"/>
                  </a:lnTo>
                  <a:lnTo>
                    <a:pt x="0" y="616894"/>
                  </a:lnTo>
                  <a:close/>
                </a:path>
              </a:pathLst>
            </a:custGeom>
            <a:blipFill>
              <a:blip r:embed="rId2"/>
              <a:stretch>
                <a:fillRect l="0" t="-34800" r="0" b="-452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35864" y="1028700"/>
            <a:ext cx="8115300" cy="4247742"/>
            <a:chOff x="0" y="0"/>
            <a:chExt cx="1257272" cy="658086"/>
          </a:xfrm>
        </p:grpSpPr>
        <p:sp>
          <p:nvSpPr>
            <p:cNvPr name="Freeform 5" id="5"/>
            <p:cNvSpPr/>
            <p:nvPr/>
          </p:nvSpPr>
          <p:spPr>
            <a:xfrm flipH="false" flipV="false" rot="36000">
              <a:off x="-3411" y="-6565"/>
              <a:ext cx="1264095" cy="671216"/>
            </a:xfrm>
            <a:custGeom>
              <a:avLst/>
              <a:gdLst/>
              <a:ahLst/>
              <a:cxnLst/>
              <a:rect r="r" b="b" t="t" l="l"/>
              <a:pathLst>
                <a:path h="671216" w="1264095">
                  <a:moveTo>
                    <a:pt x="0" y="13166"/>
                  </a:moveTo>
                  <a:lnTo>
                    <a:pt x="1257203" y="0"/>
                  </a:lnTo>
                  <a:lnTo>
                    <a:pt x="1264094" y="658050"/>
                  </a:lnTo>
                  <a:lnTo>
                    <a:pt x="6891" y="671216"/>
                  </a:lnTo>
                  <a:close/>
                </a:path>
              </a:pathLst>
            </a:custGeom>
            <a:blipFill>
              <a:blip r:embed="rId3"/>
              <a:stretch>
                <a:fillRect l="-1203" t="-19711" r="-5386" b="-13872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565304" y="5561361"/>
            <a:ext cx="4373364" cy="4725639"/>
          </a:xfrm>
          <a:custGeom>
            <a:avLst/>
            <a:gdLst/>
            <a:ahLst/>
            <a:cxnLst/>
            <a:rect r="r" b="b" t="t" l="l"/>
            <a:pathLst>
              <a:path h="4725639" w="4373364">
                <a:moveTo>
                  <a:pt x="0" y="0"/>
                </a:moveTo>
                <a:lnTo>
                  <a:pt x="4373364" y="0"/>
                </a:lnTo>
                <a:lnTo>
                  <a:pt x="4373364" y="4725639"/>
                </a:lnTo>
                <a:lnTo>
                  <a:pt x="0" y="47256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022781" y="972445"/>
            <a:ext cx="7236519" cy="1454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21575B"/>
                </a:solidFill>
                <a:latin typeface="Boston Angel"/>
                <a:ea typeface="Boston Angel"/>
                <a:cs typeface="Boston Angel"/>
                <a:sym typeface="Boston Angel"/>
              </a:rPr>
              <a:t>ADVANTAGES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863479" y="2800447"/>
            <a:ext cx="8424521" cy="6579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5"/>
              </a:lnSpc>
            </a:pPr>
            <a:r>
              <a:rPr lang="en-US" sz="2668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• Prevents electrical overload in the circuit</a:t>
            </a:r>
          </a:p>
          <a:p>
            <a:pPr algn="l">
              <a:lnSpc>
                <a:spcPts val="3735"/>
              </a:lnSpc>
            </a:pPr>
          </a:p>
          <a:p>
            <a:pPr algn="l">
              <a:lnSpc>
                <a:spcPts val="3735"/>
              </a:lnSpc>
            </a:pPr>
            <a:r>
              <a:rPr lang="en-US" sz="2668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• Protects appliances from damage caused by </a:t>
            </a:r>
          </a:p>
          <a:p>
            <a:pPr algn="l">
              <a:lnSpc>
                <a:spcPts val="3735"/>
              </a:lnSpc>
            </a:pPr>
            <a:r>
              <a:rPr lang="en-US" sz="2668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  excessive devices</a:t>
            </a:r>
          </a:p>
          <a:p>
            <a:pPr algn="l">
              <a:lnSpc>
                <a:spcPts val="3735"/>
              </a:lnSpc>
            </a:pPr>
          </a:p>
          <a:p>
            <a:pPr algn="l">
              <a:lnSpc>
                <a:spcPts val="3735"/>
              </a:lnSpc>
            </a:pPr>
            <a:r>
              <a:rPr lang="en-US" sz="2668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• Maintains power to essential devices</a:t>
            </a:r>
          </a:p>
          <a:p>
            <a:pPr algn="l">
              <a:lnSpc>
                <a:spcPts val="3735"/>
              </a:lnSpc>
            </a:pPr>
          </a:p>
          <a:p>
            <a:pPr algn="l">
              <a:lnSpc>
                <a:spcPts val="3735"/>
              </a:lnSpc>
            </a:pPr>
            <a:r>
              <a:rPr lang="en-US" sz="2668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• Automatically disconnects non-essential loads</a:t>
            </a:r>
          </a:p>
          <a:p>
            <a:pPr algn="l">
              <a:lnSpc>
                <a:spcPts val="3735"/>
              </a:lnSpc>
            </a:pPr>
          </a:p>
          <a:p>
            <a:pPr algn="l">
              <a:lnSpc>
                <a:spcPts val="3735"/>
              </a:lnSpc>
            </a:pPr>
            <a:r>
              <a:rPr lang="en-US" sz="2668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• Improves electrical safety</a:t>
            </a:r>
          </a:p>
          <a:p>
            <a:pPr algn="l">
              <a:lnSpc>
                <a:spcPts val="3735"/>
              </a:lnSpc>
            </a:pPr>
          </a:p>
          <a:p>
            <a:pPr algn="l">
              <a:lnSpc>
                <a:spcPts val="3735"/>
              </a:lnSpc>
            </a:pPr>
            <a:r>
              <a:rPr lang="en-US" sz="2668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• Reduces the chance of fuse failure</a:t>
            </a:r>
          </a:p>
          <a:p>
            <a:pPr algn="l">
              <a:lnSpc>
                <a:spcPts val="3735"/>
              </a:lnSpc>
            </a:pPr>
          </a:p>
          <a:p>
            <a:pPr algn="l">
              <a:lnSpc>
                <a:spcPts val="3735"/>
              </a:lnSpc>
              <a:spcBef>
                <a:spcPct val="0"/>
              </a:spcBef>
            </a:pPr>
            <a:r>
              <a:rPr lang="en-US" sz="2668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• Efficient use of available power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ADA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775295" y="715116"/>
            <a:ext cx="6858855" cy="2868248"/>
          </a:xfrm>
          <a:custGeom>
            <a:avLst/>
            <a:gdLst/>
            <a:ahLst/>
            <a:cxnLst/>
            <a:rect r="r" b="b" t="t" l="l"/>
            <a:pathLst>
              <a:path h="2868248" w="6858855">
                <a:moveTo>
                  <a:pt x="0" y="0"/>
                </a:moveTo>
                <a:lnTo>
                  <a:pt x="6858854" y="0"/>
                </a:lnTo>
                <a:lnTo>
                  <a:pt x="6858854" y="2868248"/>
                </a:lnTo>
                <a:lnTo>
                  <a:pt x="0" y="28682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361651" y="5575361"/>
            <a:ext cx="4409688" cy="4959772"/>
          </a:xfrm>
          <a:custGeom>
            <a:avLst/>
            <a:gdLst/>
            <a:ahLst/>
            <a:cxnLst/>
            <a:rect r="r" b="b" t="t" l="l"/>
            <a:pathLst>
              <a:path h="4959772" w="4409688">
                <a:moveTo>
                  <a:pt x="0" y="0"/>
                </a:moveTo>
                <a:lnTo>
                  <a:pt x="4409688" y="0"/>
                </a:lnTo>
                <a:lnTo>
                  <a:pt x="4409688" y="4959772"/>
                </a:lnTo>
                <a:lnTo>
                  <a:pt x="0" y="49597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50283" y="1970303"/>
            <a:ext cx="4170880" cy="3366416"/>
            <a:chOff x="0" y="0"/>
            <a:chExt cx="646178" cy="5215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46178" cy="521546"/>
            </a:xfrm>
            <a:custGeom>
              <a:avLst/>
              <a:gdLst/>
              <a:ahLst/>
              <a:cxnLst/>
              <a:rect r="r" b="b" t="t" l="l"/>
              <a:pathLst>
                <a:path h="521546" w="646178">
                  <a:moveTo>
                    <a:pt x="0" y="0"/>
                  </a:moveTo>
                  <a:lnTo>
                    <a:pt x="646178" y="0"/>
                  </a:lnTo>
                  <a:lnTo>
                    <a:pt x="646178" y="521546"/>
                  </a:lnTo>
                  <a:lnTo>
                    <a:pt x="0" y="521546"/>
                  </a:lnTo>
                  <a:close/>
                </a:path>
              </a:pathLst>
            </a:custGeom>
            <a:blipFill>
              <a:blip r:embed="rId6"/>
              <a:stretch>
                <a:fillRect l="0" t="-11948" r="0" b="-11948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058560" y="5724722"/>
            <a:ext cx="4170880" cy="3832300"/>
            <a:chOff x="0" y="0"/>
            <a:chExt cx="646178" cy="59372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46178" cy="593723"/>
            </a:xfrm>
            <a:custGeom>
              <a:avLst/>
              <a:gdLst/>
              <a:ahLst/>
              <a:cxnLst/>
              <a:rect r="r" b="b" t="t" l="l"/>
              <a:pathLst>
                <a:path h="593723" w="646178">
                  <a:moveTo>
                    <a:pt x="0" y="0"/>
                  </a:moveTo>
                  <a:lnTo>
                    <a:pt x="646178" y="0"/>
                  </a:lnTo>
                  <a:lnTo>
                    <a:pt x="646178" y="593723"/>
                  </a:lnTo>
                  <a:lnTo>
                    <a:pt x="0" y="593723"/>
                  </a:lnTo>
                  <a:close/>
                </a:path>
              </a:pathLst>
            </a:custGeom>
            <a:blipFill>
              <a:blip r:embed="rId7"/>
              <a:stretch>
                <a:fillRect l="0" t="-4417" r="0" b="-4417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2997031" y="464291"/>
            <a:ext cx="8109718" cy="3391337"/>
          </a:xfrm>
          <a:custGeom>
            <a:avLst/>
            <a:gdLst/>
            <a:ahLst/>
            <a:cxnLst/>
            <a:rect r="r" b="b" t="t" l="l"/>
            <a:pathLst>
              <a:path h="3391337" w="8109718">
                <a:moveTo>
                  <a:pt x="0" y="0"/>
                </a:moveTo>
                <a:lnTo>
                  <a:pt x="8109718" y="0"/>
                </a:lnTo>
                <a:lnTo>
                  <a:pt x="8109718" y="3391337"/>
                </a:lnTo>
                <a:lnTo>
                  <a:pt x="0" y="33913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2401018" y="1970303"/>
            <a:ext cx="4170880" cy="3366416"/>
            <a:chOff x="0" y="0"/>
            <a:chExt cx="646178" cy="52154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46178" cy="521546"/>
            </a:xfrm>
            <a:custGeom>
              <a:avLst/>
              <a:gdLst/>
              <a:ahLst/>
              <a:cxnLst/>
              <a:rect r="r" b="b" t="t" l="l"/>
              <a:pathLst>
                <a:path h="521546" w="646178">
                  <a:moveTo>
                    <a:pt x="0" y="0"/>
                  </a:moveTo>
                  <a:lnTo>
                    <a:pt x="646178" y="0"/>
                  </a:lnTo>
                  <a:lnTo>
                    <a:pt x="646178" y="521546"/>
                  </a:lnTo>
                  <a:lnTo>
                    <a:pt x="0" y="521546"/>
                  </a:lnTo>
                  <a:close/>
                </a:path>
              </a:pathLst>
            </a:custGeom>
            <a:blipFill>
              <a:blip r:embed="rId8"/>
              <a:stretch>
                <a:fillRect l="0" t="-11948" r="0" b="-11948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312803" y="226166"/>
            <a:ext cx="11173656" cy="1505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72"/>
              </a:lnSpc>
              <a:spcBef>
                <a:spcPct val="0"/>
              </a:spcBef>
            </a:pPr>
            <a:r>
              <a:rPr lang="en-US" sz="8337">
                <a:solidFill>
                  <a:srgbClr val="21575B"/>
                </a:solidFill>
                <a:latin typeface="Boston Angel"/>
                <a:ea typeface="Boston Angel"/>
                <a:cs typeface="Boston Angel"/>
                <a:sym typeface="Boston Angel"/>
              </a:rPr>
              <a:t>CRITICAL COMPONENTS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6578600"/>
            <a:ext cx="5218899" cy="224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The current sensor measures the amount of current flowing in the circuit and sends the data to the ESP32 to detect overload conditions.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5932260"/>
            <a:ext cx="5218899" cy="48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505050"/>
                </a:solidFill>
                <a:latin typeface="Agrandir Bold"/>
                <a:ea typeface="Agrandir Bold"/>
                <a:cs typeface="Agrandir Bold"/>
                <a:sym typeface="Agrandir Bold"/>
              </a:rPr>
              <a:t>Current Sensor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039065" y="6578600"/>
            <a:ext cx="5545684" cy="180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The relay module is used to automatically switch off the non-essential loads when the ESP32 detects an overload.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672768" y="5749382"/>
            <a:ext cx="5627380" cy="494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51"/>
              </a:lnSpc>
              <a:spcBef>
                <a:spcPct val="0"/>
              </a:spcBef>
            </a:pPr>
            <a:r>
              <a:rPr lang="en-US" b="true" sz="2536">
                <a:solidFill>
                  <a:srgbClr val="505050"/>
                </a:solidFill>
                <a:latin typeface="Agrandir Bold"/>
                <a:ea typeface="Agrandir Bold"/>
                <a:cs typeface="Agrandir Bold"/>
                <a:sym typeface="Agrandir Bold"/>
              </a:rPr>
              <a:t>Relay Module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33536" y="2677703"/>
            <a:ext cx="5139233" cy="224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ESP32 is used as the main controller to monitor the current and automatically disconnect non-essential loads when an overload is detected.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470679" y="2034940"/>
            <a:ext cx="5139233" cy="48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505050"/>
                </a:solidFill>
                <a:latin typeface="Agrandir Bold"/>
                <a:ea typeface="Agrandir Bold"/>
                <a:cs typeface="Agrandir Bold"/>
                <a:sym typeface="Agrandir Bold"/>
              </a:rPr>
              <a:t>ESP-32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ADA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063531" y="2244724"/>
            <a:ext cx="6127061" cy="6505567"/>
          </a:xfrm>
          <a:custGeom>
            <a:avLst/>
            <a:gdLst/>
            <a:ahLst/>
            <a:cxnLst/>
            <a:rect r="r" b="b" t="t" l="l"/>
            <a:pathLst>
              <a:path h="6505567" w="6127061">
                <a:moveTo>
                  <a:pt x="0" y="0"/>
                </a:moveTo>
                <a:lnTo>
                  <a:pt x="6127062" y="0"/>
                </a:lnTo>
                <a:lnTo>
                  <a:pt x="6127062" y="6505568"/>
                </a:lnTo>
                <a:lnTo>
                  <a:pt x="0" y="65055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571518"/>
            <a:ext cx="7072543" cy="4647161"/>
            <a:chOff x="0" y="0"/>
            <a:chExt cx="1095722" cy="7199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95722" cy="719967"/>
            </a:xfrm>
            <a:custGeom>
              <a:avLst/>
              <a:gdLst/>
              <a:ahLst/>
              <a:cxnLst/>
              <a:rect r="r" b="b" t="t" l="l"/>
              <a:pathLst>
                <a:path h="719967" w="1095722">
                  <a:moveTo>
                    <a:pt x="0" y="0"/>
                  </a:moveTo>
                  <a:lnTo>
                    <a:pt x="1095722" y="0"/>
                  </a:lnTo>
                  <a:lnTo>
                    <a:pt x="1095722" y="719967"/>
                  </a:lnTo>
                  <a:lnTo>
                    <a:pt x="0" y="719967"/>
                  </a:lnTo>
                  <a:close/>
                </a:path>
              </a:pathLst>
            </a:custGeom>
            <a:blipFill>
              <a:blip r:embed="rId4"/>
              <a:stretch>
                <a:fillRect l="0" t="-637" r="0" b="-637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1466202" y="1028700"/>
            <a:ext cx="7247641" cy="5073349"/>
          </a:xfrm>
          <a:custGeom>
            <a:avLst/>
            <a:gdLst/>
            <a:ahLst/>
            <a:cxnLst/>
            <a:rect r="r" b="b" t="t" l="l"/>
            <a:pathLst>
              <a:path h="5073349" w="7247641">
                <a:moveTo>
                  <a:pt x="0" y="0"/>
                </a:moveTo>
                <a:lnTo>
                  <a:pt x="7247641" y="0"/>
                </a:lnTo>
                <a:lnTo>
                  <a:pt x="7247641" y="5073349"/>
                </a:lnTo>
                <a:lnTo>
                  <a:pt x="0" y="50733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791199" y="31857"/>
            <a:ext cx="5818173" cy="1726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49"/>
              </a:lnSpc>
              <a:spcBef>
                <a:spcPct val="0"/>
              </a:spcBef>
            </a:pPr>
            <a:r>
              <a:rPr lang="en-US" sz="9606">
                <a:solidFill>
                  <a:srgbClr val="21575B"/>
                </a:solidFill>
                <a:latin typeface="Boston Angel"/>
                <a:ea typeface="Boston Angel"/>
                <a:cs typeface="Boston Angel"/>
                <a:sym typeface="Boston Angel"/>
              </a:rPr>
              <a:t>WORKING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52419" y="7253835"/>
            <a:ext cx="7072543" cy="180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• Current sensor measures current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• Data sent to ESP32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• ESP32 detects overload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• Relay disconnects non-essential loads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07479" y="6472732"/>
            <a:ext cx="7693764" cy="540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07"/>
              </a:lnSpc>
              <a:spcBef>
                <a:spcPct val="0"/>
              </a:spcBef>
            </a:pPr>
            <a:r>
              <a:rPr lang="en-US" b="true" sz="2719">
                <a:solidFill>
                  <a:srgbClr val="505050"/>
                </a:solidFill>
                <a:latin typeface="Agrandir Bold"/>
                <a:ea typeface="Agrandir Bold"/>
                <a:cs typeface="Agrandir Bold"/>
                <a:sym typeface="Agrandir Bold"/>
              </a:rPr>
              <a:t>Hardware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700285" y="2158999"/>
            <a:ext cx="4392944" cy="7732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3"/>
              </a:lnSpc>
            </a:pPr>
            <a:r>
              <a:rPr lang="en-US" sz="1816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#define SENSOR_PIN 34                                                            </a:t>
            </a:r>
          </a:p>
          <a:p>
            <a:pPr algn="l">
              <a:lnSpc>
                <a:spcPts val="2543"/>
              </a:lnSpc>
            </a:pPr>
            <a:r>
              <a:rPr lang="en-US" sz="1816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#define RELAY_PIN 25</a:t>
            </a:r>
          </a:p>
          <a:p>
            <a:pPr algn="l">
              <a:lnSpc>
                <a:spcPts val="2543"/>
              </a:lnSpc>
            </a:pPr>
            <a:r>
              <a:rPr lang="en-US" sz="1816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#define GREEN_LE</a:t>
            </a:r>
            <a:r>
              <a:rPr lang="en-US" sz="1816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D 26</a:t>
            </a:r>
          </a:p>
          <a:p>
            <a:pPr algn="l">
              <a:lnSpc>
                <a:spcPts val="2543"/>
              </a:lnSpc>
            </a:pPr>
            <a:r>
              <a:rPr lang="en-US" sz="1816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#define RED_LED 27</a:t>
            </a:r>
          </a:p>
          <a:p>
            <a:pPr algn="l">
              <a:lnSpc>
                <a:spcPts val="2543"/>
              </a:lnSpc>
            </a:pPr>
          </a:p>
          <a:p>
            <a:pPr algn="l">
              <a:lnSpc>
                <a:spcPts val="2543"/>
              </a:lnSpc>
            </a:pPr>
            <a:r>
              <a:rPr lang="en-US" sz="1816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float zeroCurrent = 2048;</a:t>
            </a:r>
          </a:p>
          <a:p>
            <a:pPr algn="l">
              <a:lnSpc>
                <a:spcPts val="2543"/>
              </a:lnSpc>
            </a:pPr>
            <a:r>
              <a:rPr lang="en-US" sz="1816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float threshold = 0.6;  // fixed current limit</a:t>
            </a:r>
          </a:p>
          <a:p>
            <a:pPr algn="l">
              <a:lnSpc>
                <a:spcPts val="2543"/>
              </a:lnSpc>
            </a:pPr>
          </a:p>
          <a:p>
            <a:pPr algn="l">
              <a:lnSpc>
                <a:spcPts val="2543"/>
              </a:lnSpc>
            </a:pPr>
            <a:r>
              <a:rPr lang="en-US" sz="1816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void setup() {</a:t>
            </a:r>
          </a:p>
          <a:p>
            <a:pPr algn="l">
              <a:lnSpc>
                <a:spcPts val="2543"/>
              </a:lnSpc>
            </a:pPr>
            <a:r>
              <a:rPr lang="en-US" sz="1816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  Serial.begin(115200);</a:t>
            </a:r>
          </a:p>
          <a:p>
            <a:pPr algn="l">
              <a:lnSpc>
                <a:spcPts val="2543"/>
              </a:lnSpc>
            </a:pPr>
          </a:p>
          <a:p>
            <a:pPr algn="l">
              <a:lnSpc>
                <a:spcPts val="2543"/>
              </a:lnSpc>
            </a:pPr>
            <a:r>
              <a:rPr lang="en-US" sz="1816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  pinMode(RELAY_PIN, OUTPUT);</a:t>
            </a:r>
          </a:p>
          <a:p>
            <a:pPr algn="l">
              <a:lnSpc>
                <a:spcPts val="2543"/>
              </a:lnSpc>
            </a:pPr>
            <a:r>
              <a:rPr lang="en-US" sz="1816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  pinMode(GREEN_LED, OUTPUT);</a:t>
            </a:r>
          </a:p>
          <a:p>
            <a:pPr algn="l">
              <a:lnSpc>
                <a:spcPts val="2543"/>
              </a:lnSpc>
            </a:pPr>
            <a:r>
              <a:rPr lang="en-US" sz="1816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  pinMode(RED_LED, OUTPUT);</a:t>
            </a:r>
          </a:p>
          <a:p>
            <a:pPr algn="l">
              <a:lnSpc>
                <a:spcPts val="2543"/>
              </a:lnSpc>
            </a:pPr>
          </a:p>
          <a:p>
            <a:pPr algn="l">
              <a:lnSpc>
                <a:spcPts val="2543"/>
              </a:lnSpc>
            </a:pPr>
            <a:r>
              <a:rPr lang="en-US" sz="1816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  digitalWrite(RELAY_PIN, HIGH);</a:t>
            </a:r>
          </a:p>
          <a:p>
            <a:pPr algn="l">
              <a:lnSpc>
                <a:spcPts val="2543"/>
              </a:lnSpc>
            </a:pPr>
            <a:r>
              <a:rPr lang="en-US" sz="1816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}</a:t>
            </a:r>
          </a:p>
          <a:p>
            <a:pPr algn="l">
              <a:lnSpc>
                <a:spcPts val="2543"/>
              </a:lnSpc>
            </a:pPr>
          </a:p>
          <a:p>
            <a:pPr algn="l">
              <a:lnSpc>
                <a:spcPts val="2543"/>
              </a:lnSpc>
            </a:pPr>
            <a:r>
              <a:rPr lang="en-US" sz="1816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void loop() {</a:t>
            </a:r>
          </a:p>
          <a:p>
            <a:pPr algn="l">
              <a:lnSpc>
                <a:spcPts val="2543"/>
              </a:lnSpc>
            </a:pPr>
          </a:p>
          <a:p>
            <a:pPr algn="l">
              <a:lnSpc>
                <a:spcPts val="2543"/>
              </a:lnSpc>
            </a:pPr>
            <a:r>
              <a:rPr lang="en-US" sz="1816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  int sensorValue = analogRead(SENSOR_PIN);</a:t>
            </a:r>
          </a:p>
          <a:p>
            <a:pPr algn="l">
              <a:lnSpc>
                <a:spcPts val="1843"/>
              </a:lnSpc>
            </a:pPr>
          </a:p>
          <a:p>
            <a:pPr algn="l">
              <a:lnSpc>
                <a:spcPts val="1843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8700285" y="1438168"/>
            <a:ext cx="8219666" cy="568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67"/>
              </a:lnSpc>
              <a:spcBef>
                <a:spcPct val="0"/>
              </a:spcBef>
            </a:pPr>
            <a:r>
              <a:rPr lang="en-US" b="true" sz="2905">
                <a:solidFill>
                  <a:srgbClr val="505050"/>
                </a:solidFill>
                <a:latin typeface="Agrandir Bold"/>
                <a:ea typeface="Agrandir Bold"/>
                <a:cs typeface="Agrandir Bold"/>
                <a:sym typeface="Agrandir Bold"/>
              </a:rPr>
              <a:t>Normal case-Code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760319" y="6979422"/>
            <a:ext cx="7072543" cy="48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3501777" y="1949784"/>
            <a:ext cx="4331085" cy="6829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3"/>
              </a:lnSpc>
            </a:pPr>
          </a:p>
          <a:p>
            <a:pPr algn="l">
              <a:lnSpc>
                <a:spcPts val="2543"/>
              </a:lnSpc>
            </a:pPr>
            <a:r>
              <a:rPr lang="en-US" sz="1816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 float current = abs(sensorValue - zeroCurrent) * 0.00049;</a:t>
            </a:r>
          </a:p>
          <a:p>
            <a:pPr algn="l">
              <a:lnSpc>
                <a:spcPts val="2543"/>
              </a:lnSpc>
            </a:pPr>
          </a:p>
          <a:p>
            <a:pPr algn="l">
              <a:lnSpc>
                <a:spcPts val="2543"/>
              </a:lnSpc>
            </a:pPr>
            <a:r>
              <a:rPr lang="en-US" sz="1816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  Serial.print("Current: ");</a:t>
            </a:r>
          </a:p>
          <a:p>
            <a:pPr algn="l">
              <a:lnSpc>
                <a:spcPts val="2543"/>
              </a:lnSpc>
            </a:pPr>
            <a:r>
              <a:rPr lang="en-US" sz="1816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  Serial.println(current);</a:t>
            </a:r>
          </a:p>
          <a:p>
            <a:pPr algn="l">
              <a:lnSpc>
                <a:spcPts val="2543"/>
              </a:lnSpc>
            </a:pPr>
          </a:p>
          <a:p>
            <a:pPr algn="l">
              <a:lnSpc>
                <a:spcPts val="2543"/>
              </a:lnSpc>
            </a:pPr>
            <a:r>
              <a:rPr lang="en-US" sz="1816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  if(current &gt; threshold) {</a:t>
            </a:r>
          </a:p>
          <a:p>
            <a:pPr algn="l">
              <a:lnSpc>
                <a:spcPts val="2543"/>
              </a:lnSpc>
            </a:pPr>
            <a:r>
              <a:rPr lang="en-US" sz="1816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    digitalWrite(RELAY_PIN, LOW);</a:t>
            </a:r>
          </a:p>
          <a:p>
            <a:pPr algn="l">
              <a:lnSpc>
                <a:spcPts val="2543"/>
              </a:lnSpc>
            </a:pPr>
            <a:r>
              <a:rPr lang="en-US" sz="1816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    digitalWrite(RED_LED, HIGH);</a:t>
            </a:r>
          </a:p>
          <a:p>
            <a:pPr algn="l">
              <a:lnSpc>
                <a:spcPts val="2543"/>
              </a:lnSpc>
            </a:pPr>
            <a:r>
              <a:rPr lang="en-US" sz="1816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    digitalWrite(GREEN_LED, LOW);</a:t>
            </a:r>
          </a:p>
          <a:p>
            <a:pPr algn="l">
              <a:lnSpc>
                <a:spcPts val="2543"/>
              </a:lnSpc>
            </a:pPr>
            <a:r>
              <a:rPr lang="en-US" sz="1816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  }</a:t>
            </a:r>
          </a:p>
          <a:p>
            <a:pPr algn="l">
              <a:lnSpc>
                <a:spcPts val="2543"/>
              </a:lnSpc>
            </a:pPr>
            <a:r>
              <a:rPr lang="en-US" sz="1816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  else {</a:t>
            </a:r>
          </a:p>
          <a:p>
            <a:pPr algn="l">
              <a:lnSpc>
                <a:spcPts val="2543"/>
              </a:lnSpc>
            </a:pPr>
            <a:r>
              <a:rPr lang="en-US" sz="1816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    digitalWrite(RELAY_PIN, HIGH);</a:t>
            </a:r>
          </a:p>
          <a:p>
            <a:pPr algn="l">
              <a:lnSpc>
                <a:spcPts val="2543"/>
              </a:lnSpc>
            </a:pPr>
            <a:r>
              <a:rPr lang="en-US" sz="1816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    digitalWrite(GREEN_LED, HIGH);</a:t>
            </a:r>
          </a:p>
          <a:p>
            <a:pPr algn="l">
              <a:lnSpc>
                <a:spcPts val="2543"/>
              </a:lnSpc>
            </a:pPr>
            <a:r>
              <a:rPr lang="en-US" sz="1816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    digitalWrite(RED_LED, LOW);</a:t>
            </a:r>
          </a:p>
          <a:p>
            <a:pPr algn="l">
              <a:lnSpc>
                <a:spcPts val="2543"/>
              </a:lnSpc>
            </a:pPr>
            <a:r>
              <a:rPr lang="en-US" sz="1816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  }</a:t>
            </a:r>
          </a:p>
          <a:p>
            <a:pPr algn="l">
              <a:lnSpc>
                <a:spcPts val="2543"/>
              </a:lnSpc>
            </a:pPr>
          </a:p>
          <a:p>
            <a:pPr algn="l">
              <a:lnSpc>
                <a:spcPts val="2543"/>
              </a:lnSpc>
            </a:pPr>
            <a:r>
              <a:rPr lang="en-US" sz="1816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  delay(300);</a:t>
            </a:r>
          </a:p>
          <a:p>
            <a:pPr algn="l">
              <a:lnSpc>
                <a:spcPts val="2543"/>
              </a:lnSpc>
            </a:pPr>
            <a:r>
              <a:rPr lang="en-US" sz="1816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}                                              </a:t>
            </a:r>
          </a:p>
          <a:p>
            <a:pPr algn="l">
              <a:lnSpc>
                <a:spcPts val="2543"/>
              </a:lnSpc>
            </a:pPr>
          </a:p>
          <a:p>
            <a:pPr algn="l">
              <a:lnSpc>
                <a:spcPts val="254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ADA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063531" y="2244724"/>
            <a:ext cx="6127061" cy="6505567"/>
          </a:xfrm>
          <a:custGeom>
            <a:avLst/>
            <a:gdLst/>
            <a:ahLst/>
            <a:cxnLst/>
            <a:rect r="r" b="b" t="t" l="l"/>
            <a:pathLst>
              <a:path h="6505567" w="6127061">
                <a:moveTo>
                  <a:pt x="0" y="0"/>
                </a:moveTo>
                <a:lnTo>
                  <a:pt x="6127062" y="0"/>
                </a:lnTo>
                <a:lnTo>
                  <a:pt x="6127062" y="6505568"/>
                </a:lnTo>
                <a:lnTo>
                  <a:pt x="0" y="65055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466202" y="1028700"/>
            <a:ext cx="7247641" cy="5073349"/>
          </a:xfrm>
          <a:custGeom>
            <a:avLst/>
            <a:gdLst/>
            <a:ahLst/>
            <a:cxnLst/>
            <a:rect r="r" b="b" t="t" l="l"/>
            <a:pathLst>
              <a:path h="5073349" w="7247641">
                <a:moveTo>
                  <a:pt x="0" y="0"/>
                </a:moveTo>
                <a:lnTo>
                  <a:pt x="7247641" y="0"/>
                </a:lnTo>
                <a:lnTo>
                  <a:pt x="7247641" y="5073349"/>
                </a:lnTo>
                <a:lnTo>
                  <a:pt x="0" y="50733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791199" y="31857"/>
            <a:ext cx="5818173" cy="1726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49"/>
              </a:lnSpc>
              <a:spcBef>
                <a:spcPct val="0"/>
              </a:spcBef>
            </a:pPr>
            <a:r>
              <a:rPr lang="en-US" sz="9606">
                <a:solidFill>
                  <a:srgbClr val="21575B"/>
                </a:solidFill>
                <a:latin typeface="Boston Angel"/>
                <a:ea typeface="Boston Angel"/>
                <a:cs typeface="Boston Angel"/>
                <a:sym typeface="Boston Angel"/>
              </a:rPr>
              <a:t>WORKING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73092" y="1881301"/>
            <a:ext cx="4879005" cy="8671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4"/>
              </a:lnSpc>
            </a:pPr>
            <a:r>
              <a:rPr lang="en-US" sz="2017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#define SENSOR_PIN 34                                                            </a:t>
            </a:r>
          </a:p>
          <a:p>
            <a:pPr algn="l">
              <a:lnSpc>
                <a:spcPts val="2824"/>
              </a:lnSpc>
            </a:pPr>
            <a:r>
              <a:rPr lang="en-US" sz="2017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#define RELAY_PIN 25</a:t>
            </a:r>
          </a:p>
          <a:p>
            <a:pPr algn="l">
              <a:lnSpc>
                <a:spcPts val="2824"/>
              </a:lnSpc>
            </a:pPr>
            <a:r>
              <a:rPr lang="en-US" sz="2017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#define GREEN_LE</a:t>
            </a:r>
            <a:r>
              <a:rPr lang="en-US" sz="2017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D 26</a:t>
            </a:r>
          </a:p>
          <a:p>
            <a:pPr algn="l">
              <a:lnSpc>
                <a:spcPts val="2824"/>
              </a:lnSpc>
            </a:pPr>
            <a:r>
              <a:rPr lang="en-US" sz="2017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#define RED_LED 27</a:t>
            </a:r>
          </a:p>
          <a:p>
            <a:pPr algn="l">
              <a:lnSpc>
                <a:spcPts val="2824"/>
              </a:lnSpc>
            </a:pPr>
          </a:p>
          <a:p>
            <a:pPr algn="l">
              <a:lnSpc>
                <a:spcPts val="2824"/>
              </a:lnSpc>
            </a:pPr>
            <a:r>
              <a:rPr lang="en-US" sz="2017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float zeroCurrent = 2048;</a:t>
            </a:r>
          </a:p>
          <a:p>
            <a:pPr algn="l">
              <a:lnSpc>
                <a:spcPts val="2824"/>
              </a:lnSpc>
            </a:pPr>
            <a:r>
              <a:rPr lang="en-US" sz="2017">
                <a:solidFill>
                  <a:srgbClr val="FF5757"/>
                </a:solidFill>
                <a:latin typeface="Agrandir"/>
                <a:ea typeface="Agrandir"/>
                <a:cs typeface="Agrandir"/>
                <a:sym typeface="Agrandir"/>
              </a:rPr>
              <a:t>float threshold = 0.2;</a:t>
            </a:r>
            <a:r>
              <a:rPr lang="en-US" sz="2017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  // fixed current limit</a:t>
            </a:r>
          </a:p>
          <a:p>
            <a:pPr algn="l">
              <a:lnSpc>
                <a:spcPts val="2824"/>
              </a:lnSpc>
            </a:pPr>
          </a:p>
          <a:p>
            <a:pPr algn="l">
              <a:lnSpc>
                <a:spcPts val="2824"/>
              </a:lnSpc>
            </a:pPr>
            <a:r>
              <a:rPr lang="en-US" sz="2017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void setup() {</a:t>
            </a:r>
          </a:p>
          <a:p>
            <a:pPr algn="l">
              <a:lnSpc>
                <a:spcPts val="2824"/>
              </a:lnSpc>
            </a:pPr>
            <a:r>
              <a:rPr lang="en-US" sz="2017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  Serial.begin(115200);</a:t>
            </a:r>
          </a:p>
          <a:p>
            <a:pPr algn="l">
              <a:lnSpc>
                <a:spcPts val="2824"/>
              </a:lnSpc>
            </a:pPr>
          </a:p>
          <a:p>
            <a:pPr algn="l">
              <a:lnSpc>
                <a:spcPts val="2824"/>
              </a:lnSpc>
            </a:pPr>
            <a:r>
              <a:rPr lang="en-US" sz="2017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  pinMode(RELAY_PIN, OUTPUT);</a:t>
            </a:r>
          </a:p>
          <a:p>
            <a:pPr algn="l">
              <a:lnSpc>
                <a:spcPts val="2824"/>
              </a:lnSpc>
            </a:pPr>
            <a:r>
              <a:rPr lang="en-US" sz="2017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  pinMode(GREEN_LED, OUTPUT);</a:t>
            </a:r>
          </a:p>
          <a:p>
            <a:pPr algn="l">
              <a:lnSpc>
                <a:spcPts val="2824"/>
              </a:lnSpc>
            </a:pPr>
            <a:r>
              <a:rPr lang="en-US" sz="2017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  pinMode(RED_LED, OUTPUT);</a:t>
            </a:r>
          </a:p>
          <a:p>
            <a:pPr algn="l">
              <a:lnSpc>
                <a:spcPts val="2824"/>
              </a:lnSpc>
            </a:pPr>
          </a:p>
          <a:p>
            <a:pPr algn="l">
              <a:lnSpc>
                <a:spcPts val="2824"/>
              </a:lnSpc>
            </a:pPr>
            <a:r>
              <a:rPr lang="en-US" sz="2017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  digitalWrite(RELAY_PIN, HIGH);</a:t>
            </a:r>
          </a:p>
          <a:p>
            <a:pPr algn="l">
              <a:lnSpc>
                <a:spcPts val="2824"/>
              </a:lnSpc>
            </a:pPr>
            <a:r>
              <a:rPr lang="en-US" sz="2017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}</a:t>
            </a:r>
          </a:p>
          <a:p>
            <a:pPr algn="l">
              <a:lnSpc>
                <a:spcPts val="2824"/>
              </a:lnSpc>
            </a:pPr>
          </a:p>
          <a:p>
            <a:pPr algn="l">
              <a:lnSpc>
                <a:spcPts val="2824"/>
              </a:lnSpc>
            </a:pPr>
            <a:r>
              <a:rPr lang="en-US" sz="2017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void loop() {</a:t>
            </a:r>
          </a:p>
          <a:p>
            <a:pPr algn="l">
              <a:lnSpc>
                <a:spcPts val="2824"/>
              </a:lnSpc>
            </a:pPr>
          </a:p>
          <a:p>
            <a:pPr algn="l">
              <a:lnSpc>
                <a:spcPts val="2824"/>
              </a:lnSpc>
            </a:pPr>
            <a:r>
              <a:rPr lang="en-US" sz="2017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  int sensorValue = analogRead(SENSOR_PIN);</a:t>
            </a:r>
          </a:p>
          <a:p>
            <a:pPr algn="l">
              <a:lnSpc>
                <a:spcPts val="2047"/>
              </a:lnSpc>
            </a:pPr>
          </a:p>
          <a:p>
            <a:pPr algn="l">
              <a:lnSpc>
                <a:spcPts val="2047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442099" y="1407785"/>
            <a:ext cx="8219666" cy="568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67"/>
              </a:lnSpc>
              <a:spcBef>
                <a:spcPct val="0"/>
              </a:spcBef>
            </a:pPr>
            <a:r>
              <a:rPr lang="en-US" b="true" sz="2905">
                <a:solidFill>
                  <a:srgbClr val="505050"/>
                </a:solidFill>
                <a:latin typeface="Agrandir Bold"/>
                <a:ea typeface="Agrandir Bold"/>
                <a:cs typeface="Agrandir Bold"/>
                <a:sym typeface="Agrandir Bold"/>
              </a:rPr>
              <a:t>Overload case-Code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760319" y="6979422"/>
            <a:ext cx="7072543" cy="48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243841" y="1909876"/>
            <a:ext cx="4997813" cy="7880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5"/>
              </a:lnSpc>
            </a:pPr>
          </a:p>
          <a:p>
            <a:pPr algn="l">
              <a:lnSpc>
                <a:spcPts val="2934"/>
              </a:lnSpc>
            </a:pPr>
            <a:r>
              <a:rPr lang="en-US" sz="2096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 float current = abs(sensorValue - zeroCurrent) * 0.00049;</a:t>
            </a:r>
          </a:p>
          <a:p>
            <a:pPr algn="l">
              <a:lnSpc>
                <a:spcPts val="2934"/>
              </a:lnSpc>
            </a:pPr>
          </a:p>
          <a:p>
            <a:pPr algn="l">
              <a:lnSpc>
                <a:spcPts val="2934"/>
              </a:lnSpc>
            </a:pPr>
            <a:r>
              <a:rPr lang="en-US" sz="2096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  Serial.print("Current: ");</a:t>
            </a:r>
          </a:p>
          <a:p>
            <a:pPr algn="l">
              <a:lnSpc>
                <a:spcPts val="2934"/>
              </a:lnSpc>
            </a:pPr>
            <a:r>
              <a:rPr lang="en-US" sz="2096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  Serial.println(current);</a:t>
            </a:r>
          </a:p>
          <a:p>
            <a:pPr algn="l">
              <a:lnSpc>
                <a:spcPts val="2934"/>
              </a:lnSpc>
            </a:pPr>
          </a:p>
          <a:p>
            <a:pPr algn="l">
              <a:lnSpc>
                <a:spcPts val="2934"/>
              </a:lnSpc>
            </a:pPr>
            <a:r>
              <a:rPr lang="en-US" sz="2096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  if(current &gt; threshold) {</a:t>
            </a:r>
          </a:p>
          <a:p>
            <a:pPr algn="l">
              <a:lnSpc>
                <a:spcPts val="2934"/>
              </a:lnSpc>
            </a:pPr>
            <a:r>
              <a:rPr lang="en-US" sz="2096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    digitalWrite(RELAY_PIN, LOW);</a:t>
            </a:r>
          </a:p>
          <a:p>
            <a:pPr algn="l">
              <a:lnSpc>
                <a:spcPts val="2934"/>
              </a:lnSpc>
            </a:pPr>
            <a:r>
              <a:rPr lang="en-US" sz="2096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    digitalWrite(RED_LED, HIGH);</a:t>
            </a:r>
          </a:p>
          <a:p>
            <a:pPr algn="l">
              <a:lnSpc>
                <a:spcPts val="2934"/>
              </a:lnSpc>
            </a:pPr>
            <a:r>
              <a:rPr lang="en-US" sz="2096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    digitalWrite(GREEN_LED, LOW);</a:t>
            </a:r>
          </a:p>
          <a:p>
            <a:pPr algn="l">
              <a:lnSpc>
                <a:spcPts val="2934"/>
              </a:lnSpc>
            </a:pPr>
            <a:r>
              <a:rPr lang="en-US" sz="2096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  }</a:t>
            </a:r>
          </a:p>
          <a:p>
            <a:pPr algn="l">
              <a:lnSpc>
                <a:spcPts val="2934"/>
              </a:lnSpc>
            </a:pPr>
            <a:r>
              <a:rPr lang="en-US" sz="2096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  else {</a:t>
            </a:r>
          </a:p>
          <a:p>
            <a:pPr algn="l">
              <a:lnSpc>
                <a:spcPts val="2934"/>
              </a:lnSpc>
            </a:pPr>
            <a:r>
              <a:rPr lang="en-US" sz="2096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    digitalWrite(RELAY_PIN, HIGH);</a:t>
            </a:r>
          </a:p>
          <a:p>
            <a:pPr algn="l">
              <a:lnSpc>
                <a:spcPts val="2934"/>
              </a:lnSpc>
            </a:pPr>
            <a:r>
              <a:rPr lang="en-US" sz="2096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    digitalWrite(GREEN_LED, HIGH);</a:t>
            </a:r>
          </a:p>
          <a:p>
            <a:pPr algn="l">
              <a:lnSpc>
                <a:spcPts val="2934"/>
              </a:lnSpc>
            </a:pPr>
            <a:r>
              <a:rPr lang="en-US" sz="2096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    digitalWrite(RED_LED, LOW);</a:t>
            </a:r>
          </a:p>
          <a:p>
            <a:pPr algn="l">
              <a:lnSpc>
                <a:spcPts val="2934"/>
              </a:lnSpc>
            </a:pPr>
            <a:r>
              <a:rPr lang="en-US" sz="2096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  }</a:t>
            </a:r>
          </a:p>
          <a:p>
            <a:pPr algn="l">
              <a:lnSpc>
                <a:spcPts val="2934"/>
              </a:lnSpc>
            </a:pPr>
          </a:p>
          <a:p>
            <a:pPr algn="l">
              <a:lnSpc>
                <a:spcPts val="2934"/>
              </a:lnSpc>
            </a:pPr>
            <a:r>
              <a:rPr lang="en-US" sz="2096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  delay(300);</a:t>
            </a:r>
          </a:p>
          <a:p>
            <a:pPr algn="l">
              <a:lnSpc>
                <a:spcPts val="2934"/>
              </a:lnSpc>
            </a:pPr>
            <a:r>
              <a:rPr lang="en-US" sz="2096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}                                              </a:t>
            </a:r>
          </a:p>
          <a:p>
            <a:pPr algn="l">
              <a:lnSpc>
                <a:spcPts val="2934"/>
              </a:lnSpc>
            </a:pPr>
          </a:p>
          <a:p>
            <a:pPr algn="l">
              <a:lnSpc>
                <a:spcPts val="293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ADA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330999" y="3424190"/>
            <a:ext cx="13249761" cy="7100622"/>
          </a:xfrm>
          <a:custGeom>
            <a:avLst/>
            <a:gdLst/>
            <a:ahLst/>
            <a:cxnLst/>
            <a:rect r="r" b="b" t="t" l="l"/>
            <a:pathLst>
              <a:path h="7100622" w="13249761">
                <a:moveTo>
                  <a:pt x="0" y="0"/>
                </a:moveTo>
                <a:lnTo>
                  <a:pt x="13249761" y="0"/>
                </a:lnTo>
                <a:lnTo>
                  <a:pt x="13249761" y="7100622"/>
                </a:lnTo>
                <a:lnTo>
                  <a:pt x="0" y="7100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1070" y="2416227"/>
            <a:ext cx="8697571" cy="6555082"/>
          </a:xfrm>
          <a:custGeom>
            <a:avLst/>
            <a:gdLst/>
            <a:ahLst/>
            <a:cxnLst/>
            <a:rect r="r" b="b" t="t" l="l"/>
            <a:pathLst>
              <a:path h="6555082" w="8697571">
                <a:moveTo>
                  <a:pt x="0" y="0"/>
                </a:moveTo>
                <a:lnTo>
                  <a:pt x="8697571" y="0"/>
                </a:lnTo>
                <a:lnTo>
                  <a:pt x="8697571" y="6555082"/>
                </a:lnTo>
                <a:lnTo>
                  <a:pt x="0" y="65550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317" r="-17203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918762" y="932447"/>
            <a:ext cx="6752082" cy="1483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17"/>
              </a:lnSpc>
              <a:spcBef>
                <a:spcPct val="0"/>
              </a:spcBef>
            </a:pPr>
            <a:r>
              <a:rPr lang="en-US" sz="8227">
                <a:solidFill>
                  <a:srgbClr val="21575B"/>
                </a:solidFill>
                <a:latin typeface="Boston Angel"/>
                <a:ea typeface="Boston Angel"/>
                <a:cs typeface="Boston Angel"/>
                <a:sym typeface="Boston Angel"/>
              </a:rPr>
              <a:t>LIMITATIONS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0" y="2725331"/>
            <a:ext cx="8765289" cy="6786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4"/>
              </a:lnSpc>
            </a:pPr>
            <a:r>
              <a:rPr lang="en-US" sz="2953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• Smart homes can optimize power usage more intelligently than basic overload systems.</a:t>
            </a:r>
          </a:p>
          <a:p>
            <a:pPr algn="l">
              <a:lnSpc>
                <a:spcPts val="4134"/>
              </a:lnSpc>
            </a:pPr>
          </a:p>
          <a:p>
            <a:pPr algn="l">
              <a:lnSpc>
                <a:spcPts val="4134"/>
              </a:lnSpc>
            </a:pPr>
            <a:r>
              <a:rPr lang="en-US" sz="2953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• Our system currently focuses mainly on  overload protection rather than full smart automation.</a:t>
            </a:r>
          </a:p>
          <a:p>
            <a:pPr algn="l">
              <a:lnSpc>
                <a:spcPts val="4134"/>
              </a:lnSpc>
            </a:pPr>
          </a:p>
          <a:p>
            <a:pPr algn="l">
              <a:lnSpc>
                <a:spcPts val="4134"/>
              </a:lnSpc>
            </a:pPr>
            <a:r>
              <a:rPr lang="en-US" sz="2953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• Traditional analog protection systems (like circuit breakers and overload relays) already provide basic overload protection.</a:t>
            </a:r>
          </a:p>
          <a:p>
            <a:pPr algn="l">
              <a:lnSpc>
                <a:spcPts val="4134"/>
              </a:lnSpc>
            </a:pPr>
          </a:p>
          <a:p>
            <a:pPr algn="l">
              <a:lnSpc>
                <a:spcPts val="4134"/>
              </a:lnSpc>
              <a:spcBef>
                <a:spcPct val="0"/>
              </a:spcBef>
            </a:pPr>
            <a:r>
              <a:rPr lang="en-US" sz="2953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• Integration with existing electrical and smart home systems may require further development.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ADA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39400" y="417175"/>
            <a:ext cx="4455000" cy="4114800"/>
          </a:xfrm>
          <a:custGeom>
            <a:avLst/>
            <a:gdLst/>
            <a:ahLst/>
            <a:cxnLst/>
            <a:rect r="r" b="b" t="t" l="l"/>
            <a:pathLst>
              <a:path h="4114800" w="4455000">
                <a:moveTo>
                  <a:pt x="0" y="0"/>
                </a:moveTo>
                <a:lnTo>
                  <a:pt x="4455000" y="0"/>
                </a:lnTo>
                <a:lnTo>
                  <a:pt x="4455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2208216" y="417175"/>
            <a:ext cx="4455000" cy="4114800"/>
          </a:xfrm>
          <a:custGeom>
            <a:avLst/>
            <a:gdLst/>
            <a:ahLst/>
            <a:cxnLst/>
            <a:rect r="r" b="b" t="t" l="l"/>
            <a:pathLst>
              <a:path h="4114800" w="4455000">
                <a:moveTo>
                  <a:pt x="4455000" y="0"/>
                </a:moveTo>
                <a:lnTo>
                  <a:pt x="0" y="0"/>
                </a:lnTo>
                <a:lnTo>
                  <a:pt x="0" y="4114800"/>
                </a:lnTo>
                <a:lnTo>
                  <a:pt x="4455000" y="4114800"/>
                </a:lnTo>
                <a:lnTo>
                  <a:pt x="44550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362650" y="742950"/>
            <a:ext cx="11127476" cy="1780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17"/>
              </a:lnSpc>
              <a:spcBef>
                <a:spcPct val="0"/>
              </a:spcBef>
            </a:pPr>
            <a:r>
              <a:rPr lang="en-US" sz="9869">
                <a:solidFill>
                  <a:srgbClr val="21575B"/>
                </a:solidFill>
                <a:latin typeface="Boston Angel"/>
                <a:ea typeface="Boston Angel"/>
                <a:cs typeface="Boston Angel"/>
                <a:sym typeface="Boston Angel"/>
              </a:rPr>
              <a:t>FUTURE SCOPES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44898" y="2370686"/>
            <a:ext cx="15598205" cy="70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98"/>
              </a:lnSpc>
            </a:pPr>
          </a:p>
          <a:p>
            <a:pPr algn="just" marL="0" indent="0" lvl="0">
              <a:lnSpc>
                <a:spcPts val="4598"/>
              </a:lnSpc>
            </a:pPr>
            <a:r>
              <a:rPr lang="en-US" sz="3284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• Development of mobile app monitoring to track power usage remotely.</a:t>
            </a:r>
          </a:p>
          <a:p>
            <a:pPr algn="just" marL="0" indent="0" lvl="0">
              <a:lnSpc>
                <a:spcPts val="4598"/>
              </a:lnSpc>
            </a:pPr>
          </a:p>
          <a:p>
            <a:pPr algn="just" marL="0" indent="0" lvl="0">
              <a:lnSpc>
                <a:spcPts val="4598"/>
              </a:lnSpc>
            </a:pPr>
            <a:r>
              <a:rPr lang="en-US" sz="3284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• Adding AI or smart algorithms to automatically prioritize essential appliances.</a:t>
            </a:r>
          </a:p>
          <a:p>
            <a:pPr algn="just" marL="0" indent="0" lvl="0">
              <a:lnSpc>
                <a:spcPts val="4598"/>
              </a:lnSpc>
            </a:pPr>
          </a:p>
          <a:p>
            <a:pPr algn="just" marL="0" indent="0" lvl="0">
              <a:lnSpc>
                <a:spcPts val="4598"/>
              </a:lnSpc>
            </a:pPr>
            <a:r>
              <a:rPr lang="en-US" sz="3284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• Better energy management by analysing usage patterns.</a:t>
            </a:r>
          </a:p>
          <a:p>
            <a:pPr algn="just">
              <a:lnSpc>
                <a:spcPts val="4598"/>
              </a:lnSpc>
            </a:pPr>
          </a:p>
          <a:p>
            <a:pPr algn="just" marL="0" indent="0" lvl="0">
              <a:lnSpc>
                <a:spcPts val="4598"/>
              </a:lnSpc>
            </a:pPr>
            <a:r>
              <a:rPr lang="en-US" sz="3284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• Integration with renewable energy sources like solar power systems.</a:t>
            </a:r>
          </a:p>
          <a:p>
            <a:pPr algn="just" marL="0" indent="0" lvl="0">
              <a:lnSpc>
                <a:spcPts val="4598"/>
              </a:lnSpc>
            </a:pPr>
          </a:p>
          <a:p>
            <a:pPr algn="just" marL="0" indent="0" lvl="0">
              <a:lnSpc>
                <a:spcPts val="4598"/>
              </a:lnSpc>
            </a:pPr>
            <a:r>
              <a:rPr lang="en-US" sz="3284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• Improving the system to predict overload conditions before they occur.</a:t>
            </a:r>
          </a:p>
          <a:p>
            <a:pPr algn="just" marL="0" indent="0" lvl="0">
              <a:lnSpc>
                <a:spcPts val="4598"/>
              </a:lnSpc>
            </a:pPr>
          </a:p>
          <a:p>
            <a:pPr algn="just">
              <a:lnSpc>
                <a:spcPts val="4598"/>
              </a:lnSpc>
              <a:spcBef>
                <a:spcPct val="0"/>
              </a:spcBef>
            </a:pPr>
            <a:r>
              <a:rPr lang="en-US" sz="3284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• Expanding the system for larger buildings and industrial applications.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ADA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3907" y="265103"/>
            <a:ext cx="6924637" cy="1888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73"/>
              </a:lnSpc>
              <a:spcBef>
                <a:spcPct val="0"/>
              </a:spcBef>
            </a:pPr>
            <a:r>
              <a:rPr lang="en-US" sz="10481">
                <a:solidFill>
                  <a:srgbClr val="21575B"/>
                </a:solidFill>
                <a:latin typeface="Boston Angel"/>
                <a:ea typeface="Boston Angel"/>
                <a:cs typeface="Boston Angel"/>
                <a:sym typeface="Boston Angel"/>
              </a:rPr>
              <a:t>Efficiency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13907" y="2029716"/>
            <a:ext cx="9340308" cy="7736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1"/>
              </a:lnSpc>
            </a:pPr>
            <a:r>
              <a:rPr lang="en-US" sz="2586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• A traditional MCB typically provides about 80–85% efficiency in managing overload, since it cuts power to the entire circuit, stopping all devices.</a:t>
            </a:r>
          </a:p>
          <a:p>
            <a:pPr algn="l">
              <a:lnSpc>
                <a:spcPts val="3621"/>
              </a:lnSpc>
            </a:pPr>
          </a:p>
          <a:p>
            <a:pPr algn="l">
              <a:lnSpc>
                <a:spcPts val="3621"/>
              </a:lnSpc>
            </a:pPr>
            <a:r>
              <a:rPr lang="en-US" sz="2586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• Our system can achieve around 90–95% efficiency because it disconnects only non-essential loads while keeping essential devices powered.</a:t>
            </a:r>
          </a:p>
          <a:p>
            <a:pPr algn="l">
              <a:lnSpc>
                <a:spcPts val="3621"/>
              </a:lnSpc>
            </a:pPr>
          </a:p>
          <a:p>
            <a:pPr algn="l">
              <a:lnSpc>
                <a:spcPts val="3621"/>
              </a:lnSpc>
            </a:pPr>
            <a:r>
              <a:rPr lang="en-US" sz="2586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• This selective load control improves overall power utilization.</a:t>
            </a:r>
          </a:p>
          <a:p>
            <a:pPr algn="l">
              <a:lnSpc>
                <a:spcPts val="3621"/>
              </a:lnSpc>
            </a:pPr>
          </a:p>
          <a:p>
            <a:pPr algn="l">
              <a:lnSpc>
                <a:spcPts val="3621"/>
              </a:lnSpc>
            </a:pPr>
            <a:r>
              <a:rPr lang="en-US" sz="2586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• The use of ESP32 and a current sensor allows faster detection and response to overload conditions.</a:t>
            </a:r>
          </a:p>
          <a:p>
            <a:pPr algn="l">
              <a:lnSpc>
                <a:spcPts val="3621"/>
              </a:lnSpc>
            </a:pPr>
          </a:p>
          <a:p>
            <a:pPr algn="l">
              <a:lnSpc>
                <a:spcPts val="3621"/>
              </a:lnSpc>
              <a:spcBef>
                <a:spcPct val="0"/>
              </a:spcBef>
            </a:pPr>
            <a:r>
              <a:rPr lang="en-US" sz="2586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• As a result, the system maintains better continuity of power for important appliances compared to a standard MCB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348016" y="2154955"/>
            <a:ext cx="8733785" cy="7103345"/>
            <a:chOff x="0" y="0"/>
            <a:chExt cx="1353092" cy="11004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53092" cy="1100494"/>
            </a:xfrm>
            <a:custGeom>
              <a:avLst/>
              <a:gdLst/>
              <a:ahLst/>
              <a:cxnLst/>
              <a:rect r="r" b="b" t="t" l="l"/>
              <a:pathLst>
                <a:path h="1100494" w="1353092">
                  <a:moveTo>
                    <a:pt x="0" y="0"/>
                  </a:moveTo>
                  <a:lnTo>
                    <a:pt x="1353092" y="0"/>
                  </a:lnTo>
                  <a:lnTo>
                    <a:pt x="1353092" y="1100494"/>
                  </a:lnTo>
                  <a:lnTo>
                    <a:pt x="0" y="1100494"/>
                  </a:lnTo>
                  <a:close/>
                </a:path>
              </a:pathLst>
            </a:custGeom>
            <a:blipFill>
              <a:blip r:embed="rId2"/>
              <a:stretch>
                <a:fillRect l="-11109" t="0" r="-11109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5400000">
            <a:off x="6819089" y="-373973"/>
            <a:ext cx="1594577" cy="3463279"/>
          </a:xfrm>
          <a:custGeom>
            <a:avLst/>
            <a:gdLst/>
            <a:ahLst/>
            <a:cxnLst/>
            <a:rect r="r" b="b" t="t" l="l"/>
            <a:pathLst>
              <a:path h="3463279" w="1594577">
                <a:moveTo>
                  <a:pt x="0" y="0"/>
                </a:moveTo>
                <a:lnTo>
                  <a:pt x="1594577" y="0"/>
                </a:lnTo>
                <a:lnTo>
                  <a:pt x="1594577" y="3463279"/>
                </a:lnTo>
                <a:lnTo>
                  <a:pt x="0" y="34632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ADA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815812" y="-6484620"/>
            <a:ext cx="18265574" cy="16038065"/>
          </a:xfrm>
          <a:custGeom>
            <a:avLst/>
            <a:gdLst/>
            <a:ahLst/>
            <a:cxnLst/>
            <a:rect r="r" b="b" t="t" l="l"/>
            <a:pathLst>
              <a:path h="16038065" w="18265574">
                <a:moveTo>
                  <a:pt x="0" y="0"/>
                </a:moveTo>
                <a:lnTo>
                  <a:pt x="18265573" y="0"/>
                </a:lnTo>
                <a:lnTo>
                  <a:pt x="18265573" y="16038065"/>
                </a:lnTo>
                <a:lnTo>
                  <a:pt x="0" y="160380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104087" y="-2875532"/>
            <a:ext cx="18265574" cy="16038065"/>
          </a:xfrm>
          <a:custGeom>
            <a:avLst/>
            <a:gdLst/>
            <a:ahLst/>
            <a:cxnLst/>
            <a:rect r="r" b="b" t="t" l="l"/>
            <a:pathLst>
              <a:path h="16038065" w="18265574">
                <a:moveTo>
                  <a:pt x="0" y="0"/>
                </a:moveTo>
                <a:lnTo>
                  <a:pt x="18265574" y="0"/>
                </a:lnTo>
                <a:lnTo>
                  <a:pt x="18265574" y="16038064"/>
                </a:lnTo>
                <a:lnTo>
                  <a:pt x="0" y="160380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70169" y="5517253"/>
            <a:ext cx="5845642" cy="4438461"/>
            <a:chOff x="0" y="0"/>
            <a:chExt cx="917510" cy="6966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17510" cy="696644"/>
            </a:xfrm>
            <a:custGeom>
              <a:avLst/>
              <a:gdLst/>
              <a:ahLst/>
              <a:cxnLst/>
              <a:rect r="r" b="b" t="t" l="l"/>
              <a:pathLst>
                <a:path h="696644" w="917510">
                  <a:moveTo>
                    <a:pt x="0" y="0"/>
                  </a:moveTo>
                  <a:lnTo>
                    <a:pt x="917510" y="0"/>
                  </a:lnTo>
                  <a:lnTo>
                    <a:pt x="917510" y="696644"/>
                  </a:lnTo>
                  <a:lnTo>
                    <a:pt x="0" y="696644"/>
                  </a:lnTo>
                  <a:close/>
                </a:path>
              </a:pathLst>
            </a:custGeom>
            <a:blipFill>
              <a:blip r:embed="rId4"/>
              <a:stretch>
                <a:fillRect l="0" t="-4870" r="0" b="-2683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213808" y="1251014"/>
            <a:ext cx="5900018" cy="5320206"/>
            <a:chOff x="0" y="0"/>
            <a:chExt cx="960560" cy="86616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60560" cy="866163"/>
            </a:xfrm>
            <a:custGeom>
              <a:avLst/>
              <a:gdLst/>
              <a:ahLst/>
              <a:cxnLst/>
              <a:rect r="r" b="b" t="t" l="l"/>
              <a:pathLst>
                <a:path h="866163" w="960560">
                  <a:moveTo>
                    <a:pt x="0" y="0"/>
                  </a:moveTo>
                  <a:lnTo>
                    <a:pt x="960560" y="0"/>
                  </a:lnTo>
                  <a:lnTo>
                    <a:pt x="960560" y="866163"/>
                  </a:lnTo>
                  <a:lnTo>
                    <a:pt x="0" y="866163"/>
                  </a:lnTo>
                  <a:close/>
                </a:path>
              </a:pathLst>
            </a:custGeom>
            <a:blipFill>
              <a:blip r:embed="rId5"/>
              <a:stretch>
                <a:fillRect l="0" t="-5449" r="0" b="-5449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3100674" y="-238125"/>
            <a:ext cx="9904224" cy="1498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57"/>
              </a:lnSpc>
              <a:spcBef>
                <a:spcPct val="0"/>
              </a:spcBef>
            </a:pPr>
            <a:r>
              <a:rPr lang="en-US" sz="8326">
                <a:solidFill>
                  <a:srgbClr val="21575B"/>
                </a:solidFill>
                <a:latin typeface="Boston Angel"/>
                <a:ea typeface="Boston Angel"/>
                <a:cs typeface="Boston Angel"/>
                <a:sym typeface="Boston Angel"/>
              </a:rPr>
              <a:t>  CONCLUSION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01681" y="1372488"/>
            <a:ext cx="10076247" cy="3433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21"/>
              </a:lnSpc>
            </a:pPr>
            <a:r>
              <a:rPr lang="en-US" sz="3158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• This project provides a simple and effective solution for managing electrical overload.</a:t>
            </a:r>
          </a:p>
          <a:p>
            <a:pPr algn="l">
              <a:lnSpc>
                <a:spcPts val="4421"/>
              </a:lnSpc>
            </a:pPr>
            <a:r>
              <a:rPr lang="en-US" sz="3158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• It protects appliances and circuits from damage caused by excessive current.</a:t>
            </a:r>
          </a:p>
          <a:p>
            <a:pPr algn="l">
              <a:lnSpc>
                <a:spcPts val="4421"/>
              </a:lnSpc>
              <a:spcBef>
                <a:spcPct val="0"/>
              </a:spcBef>
            </a:pPr>
            <a:r>
              <a:rPr lang="en-US" sz="3158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• The design improves electrical safety and power management.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382270" y="6418820"/>
            <a:ext cx="9120063" cy="3536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3"/>
              </a:lnSpc>
            </a:pPr>
            <a:r>
              <a:rPr lang="en-US" sz="3267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• By disconnecting non-essential loads, the system ensures that essential devices continue to receive power.</a:t>
            </a:r>
          </a:p>
          <a:p>
            <a:pPr algn="l">
              <a:lnSpc>
                <a:spcPts val="4573"/>
              </a:lnSpc>
              <a:spcBef>
                <a:spcPct val="0"/>
              </a:spcBef>
            </a:pPr>
            <a:r>
              <a:rPr lang="en-US" sz="3267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• With further development, the system can be integrated with smart home technologies for better automation.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ADA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216548" y="1314912"/>
            <a:ext cx="12042752" cy="7657175"/>
            <a:chOff x="0" y="0"/>
            <a:chExt cx="1865737" cy="11862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65737" cy="1186297"/>
            </a:xfrm>
            <a:custGeom>
              <a:avLst/>
              <a:gdLst/>
              <a:ahLst/>
              <a:cxnLst/>
              <a:rect r="r" b="b" t="t" l="l"/>
              <a:pathLst>
                <a:path h="1186297" w="1865737">
                  <a:moveTo>
                    <a:pt x="0" y="0"/>
                  </a:moveTo>
                  <a:lnTo>
                    <a:pt x="1865737" y="0"/>
                  </a:lnTo>
                  <a:lnTo>
                    <a:pt x="1865737" y="1186297"/>
                  </a:lnTo>
                  <a:lnTo>
                    <a:pt x="0" y="1186297"/>
                  </a:lnTo>
                  <a:close/>
                </a:path>
              </a:pathLst>
            </a:custGeom>
            <a:blipFill>
              <a:blip r:embed="rId2"/>
              <a:stretch>
                <a:fillRect l="0" t="-28637" r="0" b="-28637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126151" y="72442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788087"/>
            <a:ext cx="8375696" cy="4596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41"/>
              </a:lnSpc>
            </a:pPr>
            <a:r>
              <a:rPr lang="en-US" sz="16331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Thank You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3799289" y="-1786746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DAHD5ZyjsQ4</dc:identifier>
  <dcterms:modified xsi:type="dcterms:W3CDTF">2011-08-01T06:04:30Z</dcterms:modified>
  <cp:revision>1</cp:revision>
  <dc:title>Green and Blue Classy Elegant Technology Group Project Presentation</dc:title>
</cp:coreProperties>
</file>